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3.jpg" ContentType="image/jpeg"/>
  <Override PartName="/ppt/notesSlides/notesSlide3.xml" ContentType="application/vnd.openxmlformats-officedocument.presentationml.notesSlide+xml"/>
  <Override PartName="/ppt/media/image5.jpg" ContentType="image/jpeg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BC3725-04ED-4AB7-846A-4D5DDEA657C6}" v="5" dt="2026-06-17T23:21:42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26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168" y="-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克則 米原" userId="3c4ac7ccff82e1f1" providerId="LiveId" clId="{DB07E08D-241F-4EB6-9A49-8988ED645278}"/>
    <pc:docChg chg="modSld">
      <pc:chgData name="克則 米原" userId="3c4ac7ccff82e1f1" providerId="LiveId" clId="{DB07E08D-241F-4EB6-9A49-8988ED645278}" dt="2026-06-18T06:59:33.817" v="149" actId="20577"/>
      <pc:docMkLst>
        <pc:docMk/>
      </pc:docMkLst>
      <pc:sldChg chg="modSp mod">
        <pc:chgData name="克則 米原" userId="3c4ac7ccff82e1f1" providerId="LiveId" clId="{DB07E08D-241F-4EB6-9A49-8988ED645278}" dt="2026-06-18T06:59:33.817" v="149" actId="20577"/>
        <pc:sldMkLst>
          <pc:docMk/>
          <pc:sldMk cId="0" sldId="259"/>
        </pc:sldMkLst>
        <pc:spChg chg="mod">
          <ac:chgData name="克則 米原" userId="3c4ac7ccff82e1f1" providerId="LiveId" clId="{DB07E08D-241F-4EB6-9A49-8988ED645278}" dt="2026-06-17T23:40:29.248" v="133" actId="1038"/>
          <ac:spMkLst>
            <pc:docMk/>
            <pc:sldMk cId="0" sldId="259"/>
            <ac:spMk id="3" creationId="{00000000-0000-0000-0000-000000000000}"/>
          </ac:spMkLst>
        </pc:spChg>
        <pc:spChg chg="mod">
          <ac:chgData name="克則 米原" userId="3c4ac7ccff82e1f1" providerId="LiveId" clId="{DB07E08D-241F-4EB6-9A49-8988ED645278}" dt="2026-06-18T06:59:33.817" v="149" actId="20577"/>
          <ac:spMkLst>
            <pc:docMk/>
            <pc:sldMk cId="0" sldId="259"/>
            <ac:spMk id="17" creationId="{00000000-0000-0000-0000-000000000000}"/>
          </ac:spMkLst>
        </pc:spChg>
        <pc:picChg chg="mod">
          <ac:chgData name="克則 米原" userId="3c4ac7ccff82e1f1" providerId="LiveId" clId="{DB07E08D-241F-4EB6-9A49-8988ED645278}" dt="2026-06-17T23:40:37.134" v="147" actId="1037"/>
          <ac:picMkLst>
            <pc:docMk/>
            <pc:sldMk cId="0" sldId="259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479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miring-gracious-hawking/mnt/outputs/assets/proc_針さす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" y="2444764"/>
            <a:ext cx="7562088" cy="53450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377"/>
            <a:ext cx="7562088" cy="11035845"/>
          </a:xfrm>
          <a:prstGeom prst="rect">
            <a:avLst/>
          </a:prstGeom>
          <a:solidFill>
            <a:srgbClr val="0A0A0A">
              <a:alpha val="6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0" y="-28874"/>
            <a:ext cx="7562088" cy="1280158"/>
          </a:xfrm>
          <a:prstGeom prst="rect">
            <a:avLst/>
          </a:prstGeom>
          <a:solidFill>
            <a:srgbClr val="0A0A0A">
              <a:alpha val="6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0" y="566928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D4B9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AGEQUAKE  MANAGEMENT  CONSULTING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66476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3300" b="1" kern="0" spc="1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施術院の価値を高めるための</a:t>
            </a:r>
            <a:endParaRPr lang="en-US" sz="3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3300" b="1" kern="0" spc="100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導入ガイド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0" y="5897880"/>
            <a:ext cx="7562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kern="0" spc="200" dirty="0">
                <a:solidFill>
                  <a:srgbClr val="D4B9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～ 新しい付加価値をつくるために ～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0" y="8229600"/>
            <a:ext cx="7562088" cy="2459736"/>
          </a:xfrm>
          <a:prstGeom prst="rect">
            <a:avLst/>
          </a:prstGeom>
          <a:solidFill>
            <a:srgbClr val="0A0A0A">
              <a:alpha val="9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0" y="8229600"/>
            <a:ext cx="7562088" cy="0"/>
          </a:xfrm>
          <a:prstGeom prst="line">
            <a:avLst/>
          </a:prstGeom>
          <a:noFill/>
          <a:ln w="9525">
            <a:solidFill>
              <a:srgbClr val="B8964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868680" y="8522208"/>
            <a:ext cx="5824728" cy="12984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8964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1051560" y="8522208"/>
            <a:ext cx="545896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FAF9F7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この資料は整巡湯（入浴剤）の販売を目的としたものではありません。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FAF9F7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施術院様の客単価向上、差別化、リピート率向上を考えるための</a:t>
            </a:r>
            <a:endParaRPr lang="en-US" sz="10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FAF9F7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経営支援資料です。</a:t>
            </a:r>
            <a:endParaRPr lang="en-US" sz="105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72E2D3A-A552-CEF5-3ABB-8E32CF0AC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070" y="9851740"/>
            <a:ext cx="855948" cy="8559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86935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先生なら、どうやって</a:t>
            </a:r>
            <a:endParaRPr lang="en-US" sz="2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500" b="1" dirty="0" err="1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付加価値を作りますか</a:t>
            </a:r>
            <a:r>
              <a:rPr lang="en-US" sz="25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？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3918204" y="2324501"/>
            <a:ext cx="38693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付加価値をつくる方法は、いくつもあります。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5491" y="2999232"/>
            <a:ext cx="31272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90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施術時間を延ばす</a:t>
            </a:r>
            <a:endParaRPr lang="en-US" sz="1350" dirty="0"/>
          </a:p>
          <a:p>
            <a:pPr marL="177800" indent="-177800">
              <a:lnSpc>
                <a:spcPct val="190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新しい技術を学ぶ</a:t>
            </a:r>
            <a:endParaRPr lang="en-US" sz="1350" dirty="0"/>
          </a:p>
          <a:p>
            <a:pPr marL="177800" indent="-177800">
              <a:lnSpc>
                <a:spcPct val="190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機械を導入する</a:t>
            </a:r>
            <a:endParaRPr lang="en-US" sz="1350" dirty="0"/>
          </a:p>
          <a:p>
            <a:pPr marL="177800" indent="-177800">
              <a:lnSpc>
                <a:spcPct val="190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スタッフを増やす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891408" y="4873752"/>
            <a:ext cx="34009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50" dirty="0" err="1">
                <a:solidFill>
                  <a:srgbClr val="4A4A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しかしこれらは、時間・教育費・設備費・人件費という追加コストを伴います</a:t>
            </a:r>
            <a:r>
              <a:rPr lang="en-US" sz="1150" dirty="0">
                <a:solidFill>
                  <a:srgbClr val="4A4A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。</a:t>
            </a:r>
          </a:p>
          <a:p>
            <a:pPr marL="0" indent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「投資対効果」の観点で見たとき、本当に効率の良い一手と言えるでしょうか。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0" y="6720840"/>
            <a:ext cx="7562088" cy="178308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502920" y="6720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B8964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“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822960" y="6903720"/>
            <a:ext cx="59161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施術だけで勝負する時代が難しくなっている。</a:t>
            </a:r>
            <a:endParaRPr lang="en-U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必要なのは値上げではなく、付加価値の設計である。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1480" y="8734926"/>
            <a:ext cx="26661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9C9C9C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こんなお悩みはありませんか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9253728"/>
            <a:ext cx="137160" cy="137160"/>
          </a:xfrm>
          <a:prstGeom prst="rect">
            <a:avLst/>
          </a:prstGeom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795528" y="9162288"/>
            <a:ext cx="2848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物価上昇で利益が減っている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918204" y="9253728"/>
            <a:ext cx="137160" cy="137160"/>
          </a:xfrm>
          <a:prstGeom prst="rect">
            <a:avLst/>
          </a:prstGeom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4165092" y="9162288"/>
            <a:ext cx="3127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値上げしたいが患者様離れが怖い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9756648"/>
            <a:ext cx="137160" cy="137160"/>
          </a:xfrm>
          <a:prstGeom prst="rect">
            <a:avLst/>
          </a:prstGeom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795528" y="9665208"/>
            <a:ext cx="2848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他院との差別化が難しい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918204" y="9756648"/>
            <a:ext cx="137160" cy="137160"/>
          </a:xfrm>
          <a:prstGeom prst="rect">
            <a:avLst/>
          </a:prstGeom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4165092" y="9665208"/>
            <a:ext cx="2848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客単価を上げたい</a:t>
            </a:r>
            <a:endParaRPr lang="en-US" sz="1400" dirty="0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4E7B3C10-6BA1-EE13-FEFC-9922A7C5D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51761"/>
            <a:ext cx="3400933" cy="22672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Shape 2">
            <a:extLst>
              <a:ext uri="{FF2B5EF4-FFF2-40B4-BE49-F238E27FC236}">
                <a16:creationId xmlns:a16="http://schemas.microsoft.com/office/drawing/2014/main" id="{4D8FC094-B801-763D-91A4-45DF1051F097}"/>
              </a:ext>
            </a:extLst>
          </p:cNvPr>
          <p:cNvSpPr/>
          <p:nvPr/>
        </p:nvSpPr>
        <p:spPr>
          <a:xfrm>
            <a:off x="566928" y="1993392"/>
            <a:ext cx="502920" cy="0"/>
          </a:xfrm>
          <a:prstGeom prst="line">
            <a:avLst/>
          </a:prstGeom>
          <a:noFill/>
          <a:ln w="19050">
            <a:solidFill>
              <a:srgbClr val="B896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miring-gracious-hawking/mnt/outputs/assets/proc_湯けむり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A0A0A">
              <a:alpha val="5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7562088" cy="2377440"/>
          </a:xfrm>
          <a:prstGeom prst="rect">
            <a:avLst/>
          </a:prstGeom>
          <a:solidFill>
            <a:srgbClr val="0A0A0A">
              <a:alpha val="7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548640" y="404705"/>
            <a:ext cx="64648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私たちは整巡湯（入浴剤）を</a:t>
            </a:r>
            <a:endParaRPr lang="en-US" sz="2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売りたいわけではありません。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640080" y="2340864"/>
            <a:ext cx="6281928" cy="8046720"/>
          </a:xfrm>
          <a:prstGeom prst="rect">
            <a:avLst/>
          </a:prstGeom>
          <a:solidFill>
            <a:srgbClr val="FAF9F7">
              <a:alpha val="97000"/>
            </a:srgbClr>
          </a:solidFill>
          <a:ln/>
        </p:spPr>
        <p:txBody>
          <a:bodyPr/>
          <a:lstStyle/>
          <a:p>
            <a:endParaRPr lang="ja-JP" altLang="en-US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6281928" cy="0"/>
          </a:xfrm>
          <a:prstGeom prst="line">
            <a:avLst/>
          </a:prstGeom>
          <a:noFill/>
          <a:ln w="15875">
            <a:solidFill>
              <a:srgbClr val="B896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BBA2D3B5-CB12-A01E-2CE3-4A7E1E4C7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89093"/>
            <a:ext cx="2292736" cy="152849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 6"/>
          <p:cNvSpPr/>
          <p:nvPr/>
        </p:nvSpPr>
        <p:spPr>
          <a:xfrm>
            <a:off x="3511535" y="2679673"/>
            <a:ext cx="946403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施術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0080" y="3044952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964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273552"/>
            <a:ext cx="6281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自宅セルフケア提案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" y="3666744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964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3858768"/>
            <a:ext cx="6281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新メニュー化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0080" y="4114800"/>
            <a:ext cx="6281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964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（6,000円 → 6,600円　成功事例）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40080" y="4288536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964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↓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" y="4517136"/>
            <a:ext cx="6281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付加価値向上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40080" y="4910328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964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↓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0080" y="5138928"/>
            <a:ext cx="6281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リピート率向上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40080" y="5532120"/>
            <a:ext cx="6281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964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0080" y="5760720"/>
            <a:ext cx="62819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客単価向上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1005840" y="6364224"/>
            <a:ext cx="5550408" cy="0"/>
          </a:xfrm>
          <a:prstGeom prst="line">
            <a:avLst/>
          </a:prstGeom>
          <a:noFill/>
          <a:ln w="9525">
            <a:solidFill>
              <a:srgbClr val="D8D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9"/>
          <p:cNvSpPr/>
          <p:nvPr/>
        </p:nvSpPr>
        <p:spPr>
          <a:xfrm>
            <a:off x="640080" y="6528816"/>
            <a:ext cx="6281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整巡湯を活用する５つのメリット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005840" y="6912864"/>
            <a:ext cx="5550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①  値上げしやすくなる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275347" y="7141464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施術に整巡湯が加わることで、価格改定への納得感が生まれる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005840" y="7443216"/>
            <a:ext cx="5550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②  メニュー差別化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275347" y="7671816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他院にはない独自メニューとして打ち出せる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005840" y="7973568"/>
            <a:ext cx="5550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③  リピート率向上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275347" y="8202168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自宅でのセルフケア習慣が、次回来院の動機をつくる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005840" y="8503920"/>
            <a:ext cx="5550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④  将来の価格改定準備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275347" y="8732520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付加価値を積み重ね、値上げ時の抵抗を減らしておく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005840" y="9034272"/>
            <a:ext cx="5550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⑤</a:t>
            </a:r>
            <a:r>
              <a:rPr lang="ja-JP" altLang="en-US" sz="12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  メニュー選択肢の拡充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275347" y="9262872"/>
            <a:ext cx="5550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 dirty="0">
                <a:solidFill>
                  <a:srgbClr val="4A4A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顧客の状態や目的に合わせた提案ができるようになる</a:t>
            </a:r>
            <a:endParaRPr lang="en-US" sz="10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C4C933CD-7E31-5A1B-6D12-43F2DDC6D950}"/>
              </a:ext>
            </a:extLst>
          </p:cNvPr>
          <p:cNvSpPr/>
          <p:nvPr/>
        </p:nvSpPr>
        <p:spPr>
          <a:xfrm>
            <a:off x="536178" y="1520273"/>
            <a:ext cx="6464808" cy="695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ja-JP" altLang="en-US" sz="2250" b="1" dirty="0">
                <a:solidFill>
                  <a:schemeClr val="accent4">
                    <a:lumMod val="60000"/>
                    <a:lumOff val="40000"/>
                  </a:schemeClr>
                </a:solidFill>
                <a:uFill>
                  <a:solidFill>
                    <a:schemeClr val="accent4">
                      <a:lumMod val="50000"/>
                    </a:schemeClr>
                  </a:solidFill>
                </a:u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施術後の時間</a:t>
            </a:r>
            <a:r>
              <a:rPr lang="ja-JP" altLang="en-US" sz="2250" b="1" dirty="0">
                <a:solidFill>
                  <a:srgbClr val="FFFFFF"/>
                </a:solidFill>
                <a:uFill>
                  <a:solidFill>
                    <a:schemeClr val="accent4">
                      <a:lumMod val="50000"/>
                    </a:schemeClr>
                  </a:solidFill>
                </a:u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に着目したい。そう思いました。</a:t>
            </a:r>
            <a:endParaRPr lang="en-US" sz="2250" dirty="0">
              <a:uFill>
                <a:solidFill>
                  <a:schemeClr val="accent4">
                    <a:lumMod val="50000"/>
                  </a:schemeClr>
                </a:solidFill>
              </a:u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miring-gracious-hawking/mnt/outputs/assets/proc_大学ノート.jpg"/>
          <p:cNvPicPr>
            <a:picLocks noChangeAspect="1"/>
          </p:cNvPicPr>
          <p:nvPr/>
        </p:nvPicPr>
        <p:blipFill>
          <a:blip r:embed="rId3"/>
          <a:srcRect l="38948" r="51482"/>
          <a:stretch>
            <a:fillRect/>
          </a:stretch>
        </p:blipFill>
        <p:spPr>
          <a:xfrm>
            <a:off x="6717999" y="0"/>
            <a:ext cx="855949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05295" y="0"/>
            <a:ext cx="868680" cy="10689336"/>
          </a:xfrm>
          <a:prstGeom prst="rect">
            <a:avLst/>
          </a:prstGeom>
          <a:solidFill>
            <a:srgbClr val="0A0A0A">
              <a:alpha val="7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1"/>
          <p:cNvSpPr/>
          <p:nvPr/>
        </p:nvSpPr>
        <p:spPr>
          <a:xfrm>
            <a:off x="548640" y="502920"/>
            <a:ext cx="57790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まずはスタータープログラムから</a:t>
            </a:r>
            <a:endParaRPr lang="en-US" sz="2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始めませんか？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66928" y="1993392"/>
            <a:ext cx="502920" cy="0"/>
          </a:xfrm>
          <a:prstGeom prst="line">
            <a:avLst/>
          </a:prstGeom>
          <a:noFill/>
          <a:ln w="19050">
            <a:solidFill>
              <a:srgbClr val="B896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5687568" cy="2148840"/>
          </a:xfrm>
          <a:prstGeom prst="rect">
            <a:avLst/>
          </a:prstGeom>
          <a:solidFill>
            <a:srgbClr val="FAF9F7"/>
          </a:solidFill>
          <a:ln w="13970">
            <a:solidFill>
              <a:srgbClr val="B896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640080" y="2532888"/>
            <a:ext cx="5687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4A4A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施術院価値向上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5687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スタータープログラム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0080" y="3355848"/>
            <a:ext cx="5687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12,000円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40080" y="4023360"/>
            <a:ext cx="5687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（整巡湯60分包含む）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4800600"/>
            <a:ext cx="5687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内容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5129784"/>
            <a:ext cx="56875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70000"/>
              </a:lnSpc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施術院経営の付加価値戦略ガイド</a:t>
            </a:r>
            <a:endParaRPr lang="en-US" sz="1200" dirty="0"/>
          </a:p>
          <a:p>
            <a:pPr marL="177800" indent="-177800">
              <a:lnSpc>
                <a:spcPct val="170000"/>
              </a:lnSpc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整巡湯60分包</a:t>
            </a:r>
            <a:endParaRPr lang="en-US" sz="1200" dirty="0"/>
          </a:p>
          <a:p>
            <a:pPr marL="177800" indent="-177800">
              <a:lnSpc>
                <a:spcPct val="170000"/>
              </a:lnSpc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メニュー作成テンプレート</a:t>
            </a:r>
            <a:endParaRPr lang="en-US" sz="1200" dirty="0"/>
          </a:p>
          <a:p>
            <a:pPr marL="177800" indent="-177800">
              <a:lnSpc>
                <a:spcPct val="170000"/>
              </a:lnSpc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導入事例集</a:t>
            </a:r>
            <a:endParaRPr lang="en-US" sz="1200" dirty="0"/>
          </a:p>
          <a:p>
            <a:pPr marL="177800" indent="-177800">
              <a:lnSpc>
                <a:spcPct val="170000"/>
              </a:lnSpc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専用LINE案内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6858000"/>
            <a:ext cx="5687568" cy="0"/>
          </a:xfrm>
          <a:prstGeom prst="line">
            <a:avLst/>
          </a:prstGeom>
          <a:noFill/>
          <a:ln w="9525">
            <a:solidFill>
              <a:srgbClr val="D8D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640080" y="7004304"/>
            <a:ext cx="5687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A0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専用LINEの活用方法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7333488"/>
            <a:ext cx="5687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追加発注　／　活用情報共有　／　各種連絡事項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8183880"/>
            <a:ext cx="5687568" cy="0"/>
          </a:xfrm>
          <a:prstGeom prst="line">
            <a:avLst/>
          </a:prstGeom>
          <a:noFill/>
          <a:ln w="9525">
            <a:solidFill>
              <a:srgbClr val="D8D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640080" y="8366760"/>
            <a:ext cx="5687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TEL  090-4658-1863　　　MAIL  agequake@outlook.com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0" y="9098280"/>
            <a:ext cx="6693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kern="0" spc="100" dirty="0">
                <a:solidFill>
                  <a:srgbClr val="B8964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価格競争から抜け出すために</a:t>
            </a:r>
            <a:endParaRPr lang="en-US" sz="1650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FF3841D5-F566-A2EF-620D-1EF0A7182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170" y="9741949"/>
            <a:ext cx="855948" cy="8559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181</Words>
  <Application>Microsoft Office PowerPoint</Application>
  <PresentationFormat>ユーザー設定</PresentationFormat>
  <Paragraphs>70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游明朝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克則 米原</cp:lastModifiedBy>
  <cp:revision>2</cp:revision>
  <dcterms:created xsi:type="dcterms:W3CDTF">2026-06-17T14:13:23Z</dcterms:created>
  <dcterms:modified xsi:type="dcterms:W3CDTF">2026-06-18T06:59:41Z</dcterms:modified>
</cp:coreProperties>
</file>